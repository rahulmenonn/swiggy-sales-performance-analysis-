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Display" panose="020B0604020202020204" charset="0"/>
      <p:regular r:id="rId13"/>
    </p:embeddedFont>
    <p:embeddedFont>
      <p:font typeface="Funnel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78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3513" y="1160000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Swiggy Sales Performance Analysis: An Excel Dashboard Approach</a:t>
            </a:r>
            <a:endParaRPr lang="en-US" sz="4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2"/>
          <p:cNvSpPr/>
          <p:nvPr/>
        </p:nvSpPr>
        <p:spPr>
          <a:xfrm>
            <a:off x="6853513" y="3573610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presentation unveils an interactive Excel dashboard designed to provide a comprehensive analysis of Swiggy's food delivery sales. Our focus areas include critical revenue trends, deep dives into customer behavior patterns, and granular insights into regional performance.</a:t>
            </a:r>
            <a:endParaRPr lang="en-US" sz="18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D4E8E-E4C1-324B-67CE-DD42DC270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448927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9858" y="516850"/>
            <a:ext cx="9549289" cy="552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Problem Statement &amp; Business Requirements</a:t>
            </a:r>
            <a:endParaRPr lang="en-US" sz="34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1719858" y="1539478"/>
            <a:ext cx="221158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Problem Statement: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19858" y="2003822"/>
            <a:ext cx="5365909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data spans multiple dimensions: time, food category, and geography.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19858" y="2671048"/>
            <a:ext cx="5365909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analysis significantly limited visibility into performance and emerging trends.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9858" y="3338274"/>
            <a:ext cx="5365909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There was a critical need for a consolidated, Excel-based dashboard for effective decision support.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52015" y="1539478"/>
            <a:ext cx="2532698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Business Requirements: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52015" y="1891070"/>
            <a:ext cx="360473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Performance Indicators (KPIs):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52015" y="2355413"/>
            <a:ext cx="536590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Sales (₹)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52015" y="2721888"/>
            <a:ext cx="536590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52015" y="3088362"/>
            <a:ext cx="536590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Average Order Value (₹)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52015" y="3454837"/>
            <a:ext cx="536590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52015" y="3821311"/>
            <a:ext cx="536590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Ratings Count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19858" y="4493147"/>
            <a:ext cx="11190565" cy="31075"/>
          </a:xfrm>
          <a:prstGeom prst="rect">
            <a:avLst/>
          </a:prstGeom>
          <a:solidFill>
            <a:srgbClr val="2B3541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719858" y="4806077"/>
            <a:ext cx="2349579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Charts to Develop: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719858" y="5364480"/>
            <a:ext cx="5501283" cy="1080968"/>
          </a:xfrm>
          <a:prstGeom prst="roundRect">
            <a:avLst>
              <a:gd name="adj" fmla="val 730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5358" y="5559981"/>
            <a:ext cx="221158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Sales Trends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15358" y="5949196"/>
            <a:ext cx="51102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Monthly, Daily &amp; Weekly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09021" y="5364480"/>
            <a:ext cx="5501402" cy="1080968"/>
          </a:xfrm>
          <a:prstGeom prst="roundRect">
            <a:avLst>
              <a:gd name="adj" fmla="val 730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4522" y="5559981"/>
            <a:ext cx="221158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Food Type Analysis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04522" y="5949196"/>
            <a:ext cx="5110401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Veg vs. Non-Veg Sales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719858" y="6633329"/>
            <a:ext cx="5501283" cy="1080968"/>
          </a:xfrm>
          <a:prstGeom prst="roundRect">
            <a:avLst>
              <a:gd name="adj" fmla="val 730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5358" y="6828830"/>
            <a:ext cx="221158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Geographic Insights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915358" y="7218045"/>
            <a:ext cx="5110282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State-wise &amp; Top 5 Cities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409021" y="6633329"/>
            <a:ext cx="5501402" cy="1080968"/>
          </a:xfrm>
          <a:prstGeom prst="roundRect">
            <a:avLst>
              <a:gd name="adj" fmla="val 730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04522" y="6828830"/>
            <a:ext cx="2211586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Quarterly Overview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04522" y="7218045"/>
            <a:ext cx="5110401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Performance Summary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04" y="0"/>
            <a:ext cx="5940147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8073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67970" y="1035665"/>
            <a:ext cx="6455569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Monthly Sales Trend Analysis</a:t>
            </a:r>
            <a:endParaRPr lang="en-US" sz="3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"/>
          <p:cNvSpPr/>
          <p:nvPr/>
        </p:nvSpPr>
        <p:spPr>
          <a:xfrm>
            <a:off x="6185654" y="2216587"/>
            <a:ext cx="7745492" cy="2666286"/>
          </a:xfrm>
          <a:prstGeom prst="roundRect">
            <a:avLst>
              <a:gd name="adj" fmla="val 4115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62794" y="2216587"/>
            <a:ext cx="91440" cy="2666286"/>
          </a:xfrm>
          <a:prstGeom prst="roundRect">
            <a:avLst>
              <a:gd name="adj" fmla="val 91768"/>
            </a:avLst>
          </a:prstGeom>
          <a:solidFill>
            <a:srgbClr val="3371A5"/>
          </a:solidFill>
          <a:ln/>
        </p:spPr>
      </p:sp>
      <p:sp>
        <p:nvSpPr>
          <p:cNvPr id="7" name="Text 4"/>
          <p:cNvSpPr/>
          <p:nvPr/>
        </p:nvSpPr>
        <p:spPr>
          <a:xfrm>
            <a:off x="6476881" y="2439233"/>
            <a:ext cx="235041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Observations: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476881" y="2852738"/>
            <a:ext cx="7231618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January, May, and August emerge as peak months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each generating approximately ₹6.8 Million in sales.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76881" y="3561755"/>
            <a:ext cx="7231618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February records the lowest sales volume at around ₹6.3 Million.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76881" y="3951208"/>
            <a:ext cx="7231618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Following February, sales steadily recover, reaching another peak in May.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476881" y="4340662"/>
            <a:ext cx="7231618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minor dip is observed in June, followed by a consistent rise towards August.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85654" y="5082659"/>
            <a:ext cx="7745492" cy="1817489"/>
          </a:xfrm>
          <a:prstGeom prst="roundRect">
            <a:avLst>
              <a:gd name="adj" fmla="val 6037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62794" y="5082659"/>
            <a:ext cx="91440" cy="1817489"/>
          </a:xfrm>
          <a:prstGeom prst="roundRect">
            <a:avLst>
              <a:gd name="adj" fmla="val 91768"/>
            </a:avLst>
          </a:prstGeom>
          <a:solidFill>
            <a:srgbClr val="3371A5"/>
          </a:solidFill>
          <a:ln/>
        </p:spPr>
      </p:sp>
      <p:sp>
        <p:nvSpPr>
          <p:cNvPr id="14" name="Text 11"/>
          <p:cNvSpPr/>
          <p:nvPr/>
        </p:nvSpPr>
        <p:spPr>
          <a:xfrm>
            <a:off x="6476881" y="5305306"/>
            <a:ext cx="235041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Insight: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476881" y="5718810"/>
            <a:ext cx="7231618" cy="9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data clearly indicates a </a:t>
            </a:r>
            <a:r>
              <a:rPr lang="en-US" sz="1550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seasonal and cyclical pattern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highlighting predictable demand peaks and short-term slowdowns that can be anticipated and planned for.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F5481C-1FAE-7167-738E-EE96E6306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" y="2216587"/>
            <a:ext cx="5940146" cy="3501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099" y="0"/>
            <a:ext cx="6022301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0213" y="760333"/>
            <a:ext cx="6596896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Daily &amp; Weekly Sales Trends</a:t>
            </a:r>
            <a:endParaRPr lang="en-US" sz="3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"/>
          <p:cNvSpPr/>
          <p:nvPr/>
        </p:nvSpPr>
        <p:spPr>
          <a:xfrm>
            <a:off x="750213" y="1712238"/>
            <a:ext cx="7643574" cy="5756910"/>
          </a:xfrm>
          <a:prstGeom prst="roundRect">
            <a:avLst>
              <a:gd name="adj" fmla="val 1564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7833" y="1719858"/>
            <a:ext cx="7628334" cy="3840599"/>
          </a:xfrm>
          <a:prstGeom prst="roundRect">
            <a:avLst>
              <a:gd name="adj" fmla="val 2344"/>
            </a:avLst>
          </a:prstGeom>
          <a:solidFill>
            <a:srgbClr val="FAF5EB"/>
          </a:solidFill>
          <a:ln/>
        </p:spPr>
      </p:sp>
      <p:sp>
        <p:nvSpPr>
          <p:cNvPr id="7" name="Text 4"/>
          <p:cNvSpPr/>
          <p:nvPr/>
        </p:nvSpPr>
        <p:spPr>
          <a:xfrm>
            <a:off x="972145" y="1455123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Observations: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41370" y="1845290"/>
            <a:ext cx="71997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Saturday records the highest sales at ₹7.78 Million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signifying a significant weekend surge.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72145" y="2573847"/>
            <a:ext cx="71997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Thursday (₹7.66 Million) and Friday (₹7.58 Million) show strong pre-weekend momentum.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53051" y="3259647"/>
            <a:ext cx="71997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Sunday sales remain robust at ₹7.64 Million, extending the weekend peak.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53051" y="3831901"/>
            <a:ext cx="71997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Tuesday records the lowest sales at ₹7.36 Million, followed by Monday at ₹7.45 Million.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Week 8 records the highest sales at ₹1.76M, indicating a short-term demand spike, while Week 36 shows the lowest sales at ₹0.20M, followed by Week 1 at ₹0.88M.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Apart from these outliers, most weeks show stable sales performance, with no extreme highs or prolonged declines.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65453" y="6328529"/>
            <a:ext cx="7628334" cy="1901071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3" name="Shape 10"/>
          <p:cNvSpPr/>
          <p:nvPr/>
        </p:nvSpPr>
        <p:spPr>
          <a:xfrm>
            <a:off x="738738" y="6229535"/>
            <a:ext cx="7628334" cy="30480"/>
          </a:xfrm>
          <a:prstGeom prst="roundRect">
            <a:avLst>
              <a:gd name="adj" fmla="val 295393"/>
            </a:avLst>
          </a:prstGeom>
          <a:solidFill>
            <a:srgbClr val="D5CDBE"/>
          </a:solidFill>
          <a:ln/>
        </p:spPr>
      </p:sp>
      <p:sp>
        <p:nvSpPr>
          <p:cNvPr id="14" name="Text 11"/>
          <p:cNvSpPr/>
          <p:nvPr/>
        </p:nvSpPr>
        <p:spPr>
          <a:xfrm>
            <a:off x="953051" y="6272172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Insight: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41369" y="6732865"/>
            <a:ext cx="719970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 ordering behavior is predominantly </a:t>
            </a:r>
            <a:r>
              <a:rPr lang="en-US" sz="1650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weekend-driven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with demand steadily building from mid-week towards Saturday's peak. This highlights prime opportunities for weekend-specific promotions.</a:t>
            </a:r>
            <a:endParaRPr lang="en-US" sz="16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909AD4-4C89-B1FC-DB89-5333F2A95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499" y="883161"/>
            <a:ext cx="5961327" cy="32316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988E4A-6912-4FDE-C28F-9CF3F0757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385" y="4715492"/>
            <a:ext cx="6049015" cy="2531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937647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0173" y="1107043"/>
            <a:ext cx="7616904" cy="557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Food Type Analysis: Veg vs. Non-Veg</a:t>
            </a:r>
            <a:endParaRPr lang="en-US" sz="3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"/>
          <p:cNvSpPr/>
          <p:nvPr/>
        </p:nvSpPr>
        <p:spPr>
          <a:xfrm>
            <a:off x="6150173" y="2233732"/>
            <a:ext cx="7816453" cy="2728674"/>
          </a:xfrm>
          <a:prstGeom prst="roundRect">
            <a:avLst>
              <a:gd name="adj" fmla="val 4021"/>
            </a:avLst>
          </a:prstGeom>
          <a:solidFill>
            <a:srgbClr val="FAF5EB"/>
          </a:solidFill>
          <a:ln/>
        </p:spPr>
      </p:sp>
      <p:sp>
        <p:nvSpPr>
          <p:cNvPr id="6" name="Shape 3"/>
          <p:cNvSpPr/>
          <p:nvPr/>
        </p:nvSpPr>
        <p:spPr>
          <a:xfrm>
            <a:off x="6150173" y="2210872"/>
            <a:ext cx="7816453" cy="91440"/>
          </a:xfrm>
          <a:prstGeom prst="roundRect">
            <a:avLst>
              <a:gd name="adj" fmla="val 87123"/>
            </a:avLst>
          </a:prstGeom>
          <a:solidFill>
            <a:srgbClr val="3371A5"/>
          </a:solidFill>
          <a:ln/>
        </p:spPr>
      </p:sp>
      <p:sp>
        <p:nvSpPr>
          <p:cNvPr id="7" name="Shape 4"/>
          <p:cNvSpPr/>
          <p:nvPr/>
        </p:nvSpPr>
        <p:spPr>
          <a:xfrm>
            <a:off x="9773900" y="1949291"/>
            <a:ext cx="569000" cy="569000"/>
          </a:xfrm>
          <a:prstGeom prst="roundRect">
            <a:avLst>
              <a:gd name="adj" fmla="val 160703"/>
            </a:avLst>
          </a:prstGeom>
          <a:solidFill>
            <a:srgbClr val="3371A5"/>
          </a:solidFill>
          <a:ln/>
        </p:spPr>
      </p:sp>
      <p:sp>
        <p:nvSpPr>
          <p:cNvPr id="8" name="Text 5"/>
          <p:cNvSpPr/>
          <p:nvPr/>
        </p:nvSpPr>
        <p:spPr>
          <a:xfrm>
            <a:off x="9944636" y="2091571"/>
            <a:ext cx="227528" cy="28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362700" y="2707838"/>
            <a:ext cx="2231469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Observations: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362700" y="3100388"/>
            <a:ext cx="7391400" cy="60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Vegetarian category leads revenue with ₹33.9 Million</a:t>
            </a: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contributing approximately 64% of total sales.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62700" y="3773448"/>
            <a:ext cx="7391400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Non-Veg and other categories account for the remaining share of sales.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362700" y="4143137"/>
            <a:ext cx="7391400" cy="60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high revenue from Veg items indicates both frequent ordering and broad mass-market appeal.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50173" y="5436513"/>
            <a:ext cx="7816453" cy="1685925"/>
          </a:xfrm>
          <a:prstGeom prst="roundRect">
            <a:avLst>
              <a:gd name="adj" fmla="val 6508"/>
            </a:avLst>
          </a:prstGeom>
          <a:solidFill>
            <a:srgbClr val="FAF5EB"/>
          </a:solidFill>
          <a:ln/>
        </p:spPr>
      </p:sp>
      <p:sp>
        <p:nvSpPr>
          <p:cNvPr id="14" name="Shape 11"/>
          <p:cNvSpPr/>
          <p:nvPr/>
        </p:nvSpPr>
        <p:spPr>
          <a:xfrm>
            <a:off x="6150173" y="5413653"/>
            <a:ext cx="7816453" cy="91440"/>
          </a:xfrm>
          <a:prstGeom prst="roundRect">
            <a:avLst>
              <a:gd name="adj" fmla="val 87123"/>
            </a:avLst>
          </a:prstGeom>
          <a:solidFill>
            <a:srgbClr val="3371A5"/>
          </a:solidFill>
          <a:ln/>
        </p:spPr>
      </p:sp>
      <p:sp>
        <p:nvSpPr>
          <p:cNvPr id="15" name="Shape 12"/>
          <p:cNvSpPr/>
          <p:nvPr/>
        </p:nvSpPr>
        <p:spPr>
          <a:xfrm>
            <a:off x="9773900" y="5152072"/>
            <a:ext cx="569000" cy="569000"/>
          </a:xfrm>
          <a:prstGeom prst="roundRect">
            <a:avLst>
              <a:gd name="adj" fmla="val 160703"/>
            </a:avLst>
          </a:prstGeom>
          <a:solidFill>
            <a:srgbClr val="3371A5"/>
          </a:solidFill>
          <a:ln/>
        </p:spPr>
      </p:sp>
      <p:sp>
        <p:nvSpPr>
          <p:cNvPr id="16" name="Text 13"/>
          <p:cNvSpPr/>
          <p:nvPr/>
        </p:nvSpPr>
        <p:spPr>
          <a:xfrm>
            <a:off x="9944636" y="5294352"/>
            <a:ext cx="227528" cy="28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362700" y="5910620"/>
            <a:ext cx="2231469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Insight: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362700" y="6303169"/>
            <a:ext cx="7391400" cy="60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Veg items are definitively the </a:t>
            </a:r>
            <a:r>
              <a:rPr lang="en-US" sz="1450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primary revenue drivers</a:t>
            </a:r>
            <a:r>
              <a:rPr lang="en-US" sz="14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This suggests they are ideal for volume-based growth strategies and broad promotional campaigns.</a:t>
            </a:r>
            <a:endParaRPr lang="en-US" sz="1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67515F-0D9D-74B6-D981-46EEFEE86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50" y="1949291"/>
            <a:ext cx="5587877" cy="50406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983009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2203" y="1172647"/>
            <a:ext cx="6440091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State-Wise Sales Distribution</a:t>
            </a:r>
            <a:endParaRPr lang="en-US" sz="3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"/>
          <p:cNvSpPr/>
          <p:nvPr/>
        </p:nvSpPr>
        <p:spPr>
          <a:xfrm>
            <a:off x="6192203" y="2068116"/>
            <a:ext cx="7732395" cy="2983349"/>
          </a:xfrm>
          <a:prstGeom prst="roundRect">
            <a:avLst>
              <a:gd name="adj" fmla="val 1622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1395" y="2277308"/>
            <a:ext cx="2372439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Observations: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401395" y="2694861"/>
            <a:ext cx="7314009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Karnataka leads significantly with ₹5.5 Million in sales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showcasing strong market penetration.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1395" y="3410664"/>
            <a:ext cx="7314009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Uttar Pradesh follows with a substantial ₹3.1 Million in revenue.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401395" y="3803809"/>
            <a:ext cx="7314009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Maharashtra and Telangana each contribute around ₹3.0 Million.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01395" y="4196953"/>
            <a:ext cx="7314009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Nagaland and Sikkim record the lowest sales, both at approximately ₹0.6 Million.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192203" y="5253038"/>
            <a:ext cx="7732395" cy="1803916"/>
          </a:xfrm>
          <a:prstGeom prst="roundRect">
            <a:avLst>
              <a:gd name="adj" fmla="val 2683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1395" y="5462230"/>
            <a:ext cx="2372439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Insight: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401395" y="5879782"/>
            <a:ext cx="7314009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is </a:t>
            </a:r>
            <a:r>
              <a:rPr lang="en-US" sz="1550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heavily concentrated in a few high-performing states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indicating significant untapped potential and expansion opportunities in low-performing regions.</a:t>
            </a:r>
            <a:endParaRPr lang="en-US" sz="15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17C8C6-ECC0-974E-E3E7-B618C76E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86" y="321714"/>
            <a:ext cx="5745233" cy="79078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548" y="949285"/>
            <a:ext cx="7616904" cy="128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Top 5 Cities by Sales Performance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48" y="2559963"/>
            <a:ext cx="1090732" cy="25673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72402" y="2559963"/>
            <a:ext cx="2566630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Observations: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2072402" y="3011686"/>
            <a:ext cx="6308050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Metro cities consistently dominate overall sales contribution.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072402" y="3436977"/>
            <a:ext cx="6308050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Bengaluru unequivocally ranks as the top-performing city in terms of sales volume.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2072402" y="4211241"/>
            <a:ext cx="6308050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is followed closely by Hyderabad, Mumbai, Chennai, and Delhi, forming a strong urban core.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48" y="5345430"/>
            <a:ext cx="1090732" cy="17167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72402" y="5345430"/>
            <a:ext cx="2566630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Insight: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2072402" y="5797153"/>
            <a:ext cx="6308050" cy="104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Urban centers serve as </a:t>
            </a:r>
            <a:r>
              <a:rPr lang="en-US" sz="1700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core revenue hubs</a:t>
            </a: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driven by higher population density, increased digital adoption, and diverse culinary demands. These cities are critical for sustained growth.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8DA33D-69A2-9190-0FFC-AF525A79EE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150" y="2430867"/>
            <a:ext cx="5497204" cy="3074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4022" y="1066205"/>
            <a:ext cx="7511177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Quarterly Performance Analysis</a:t>
            </a:r>
            <a:endParaRPr lang="en-US" sz="3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"/>
          <p:cNvSpPr/>
          <p:nvPr/>
        </p:nvSpPr>
        <p:spPr>
          <a:xfrm>
            <a:off x="744022" y="2010370"/>
            <a:ext cx="850344" cy="3054787"/>
          </a:xfrm>
          <a:prstGeom prst="roundRect">
            <a:avLst>
              <a:gd name="adj" fmla="val 36003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9769" y="3338393"/>
            <a:ext cx="31884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806892" y="2222897"/>
            <a:ext cx="2501265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Observations: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806892" y="2663071"/>
            <a:ext cx="659308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Q1 and Q2 consistently show strong sales and order volumes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indicating a robust start to the year.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806892" y="3417689"/>
            <a:ext cx="659308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Q3 experiences a notable decline in order volumes, suggesting seasonal shifts or external factors.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806892" y="4172307"/>
            <a:ext cx="659308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Crucially, customer ratings remain stable and high across all quarters, unaffected by order fluctuations.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4022" y="5277683"/>
            <a:ext cx="850344" cy="1885712"/>
          </a:xfrm>
          <a:prstGeom prst="roundRect">
            <a:avLst>
              <a:gd name="adj" fmla="val 36003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9769" y="6021229"/>
            <a:ext cx="318849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1806892" y="5490210"/>
            <a:ext cx="2501265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Insight: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806892" y="5930384"/>
            <a:ext cx="659308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Fluctuations in order volume are </a:t>
            </a:r>
            <a:r>
              <a:rPr lang="en-US" sz="1650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primarily season-driven</a:t>
            </a:r>
            <a:r>
              <a:rPr lang="en-US" sz="16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not indicative of any underlying issues with service quality or customer satisfaction, which remains consistently high.</a:t>
            </a:r>
            <a:endParaRPr lang="en-US" sz="16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8EA60E-AF66-5E40-2FC9-D965BED96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02" y="2010370"/>
            <a:ext cx="4742378" cy="40109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-45718"/>
            <a:ext cx="14630400" cy="45719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0" y="-1379785"/>
            <a:ext cx="14630400" cy="996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71706" y="2083831"/>
            <a:ext cx="8128635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Customer Satisfaction &amp; Order Value</a:t>
            </a:r>
            <a:endParaRPr lang="en-US" sz="3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2"/>
          <p:cNvSpPr/>
          <p:nvPr/>
        </p:nvSpPr>
        <p:spPr>
          <a:xfrm>
            <a:off x="1377672" y="4089321"/>
            <a:ext cx="5837753" cy="3430191"/>
          </a:xfrm>
          <a:prstGeom prst="roundRect">
            <a:avLst>
              <a:gd name="adj" fmla="val 2443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874" y="3992523"/>
            <a:ext cx="239316" cy="23931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908" y="7376993"/>
            <a:ext cx="239316" cy="2393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9736" y="4411385"/>
            <a:ext cx="2346841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Observations: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699736" y="4824293"/>
            <a:ext cx="519362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Average customer rating remains consistently high at ~4.3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reflecting strong service perception.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699736" y="5532239"/>
            <a:ext cx="519362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substantial ratings count indicates robust customer engagement and feedback.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699736" y="6240185"/>
            <a:ext cx="5193625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Average Order Value (AOV) maintains stability over time, suggesting consistent spending patterns per order.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414855" y="4089321"/>
            <a:ext cx="5837873" cy="3430191"/>
          </a:xfrm>
          <a:prstGeom prst="roundRect">
            <a:avLst>
              <a:gd name="adj" fmla="val 2443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058" y="3992523"/>
            <a:ext cx="239316" cy="239316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0210" y="7376993"/>
            <a:ext cx="239316" cy="2393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36919" y="4411385"/>
            <a:ext cx="2346841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Insight: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7736919" y="4824293"/>
            <a:ext cx="5193744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Swiggy successfully maintains </a:t>
            </a:r>
            <a:r>
              <a:rPr lang="en-US" sz="1550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strong customer satisfaction and consistent spending behavior</a:t>
            </a: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which are critical factors supporting long-term customer retention and loyalty.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1743" y="443746"/>
            <a:ext cx="8339971" cy="474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51D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Overall Insights &amp; Strategic Recommendations</a:t>
            </a:r>
            <a:endParaRPr lang="en-US" sz="29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2511743" y="1321713"/>
            <a:ext cx="189857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Overall Insights: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511743" y="1720334"/>
            <a:ext cx="460652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exhibit clear seasonality, with distinct peaks in January, May, and August.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11743" y="2293025"/>
            <a:ext cx="460652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Demand is heavily weekend-centric, with Saturdays being the highest performing day.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11743" y="2865715"/>
            <a:ext cx="460652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Veg category overwhelmingly dominates revenue, driven by high order frequency.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11743" y="3438406"/>
            <a:ext cx="460652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is concentrated in metro cities and a few high-performing states.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11743" y="4011097"/>
            <a:ext cx="460652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 satisfaction remains consistently high despite observed demand fluctuations.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19511" y="1321713"/>
            <a:ext cx="2129790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Recommendations: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9995" y="1745397"/>
            <a:ext cx="242054" cy="2420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3863" y="1740456"/>
            <a:ext cx="189857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Targeted Promotions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3863" y="2139077"/>
            <a:ext cx="4082177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Align promotions with peak months and weekends to maximize ROI.</a:t>
            </a:r>
            <a:endParaRPr lang="en-US" sz="12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9995" y="2982932"/>
            <a:ext cx="242054" cy="2420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3863" y="2977991"/>
            <a:ext cx="189857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Veg-Centric Growth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043863" y="3376613"/>
            <a:ext cx="4082177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Utilize Veg combo offers and pricing strategies to drive volume growth.</a:t>
            </a:r>
            <a:endParaRPr lang="en-US" sz="12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9995" y="4220468"/>
            <a:ext cx="242054" cy="2420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3863" y="4215527"/>
            <a:ext cx="189857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Boost AOV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3863" y="4614148"/>
            <a:ext cx="4082177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Leverage Non-Veg items to improve Average Order Value through premium offerings.</a:t>
            </a:r>
            <a:endParaRPr lang="en-US" sz="12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9995" y="5458004"/>
            <a:ext cx="242054" cy="2420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3863" y="5453063"/>
            <a:ext cx="189857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Expand Reach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043863" y="5851684"/>
            <a:ext cx="4082177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targeted marketing and partnerships in low-performing states.</a:t>
            </a:r>
            <a:endParaRPr lang="en-US" sz="12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9995" y="6695539"/>
            <a:ext cx="242054" cy="2420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3863" y="6690598"/>
            <a:ext cx="189857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Optimize Capacity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043863" y="7089219"/>
            <a:ext cx="4082177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Ensure optimal delivery capacity from Thursday to Sunday to handle peak demand efficiently.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973</Words>
  <Application>Microsoft Office PowerPoint</Application>
  <PresentationFormat>Custom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Funnel Sans</vt:lpstr>
      <vt:lpstr>Funnel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</dc:creator>
  <cp:lastModifiedBy>Rahul Menon</cp:lastModifiedBy>
  <cp:revision>2</cp:revision>
  <dcterms:created xsi:type="dcterms:W3CDTF">2026-01-19T10:44:42Z</dcterms:created>
  <dcterms:modified xsi:type="dcterms:W3CDTF">2026-01-19T11:13:05Z</dcterms:modified>
</cp:coreProperties>
</file>